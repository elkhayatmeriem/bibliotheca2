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Semi-Bold" charset="1" panose="000007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Aileron" charset="1" panose="00000500000000000000"/>
      <p:regular r:id="rId19"/>
    </p:embeddedFont>
    <p:embeddedFont>
      <p:font typeface="Aileron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FFFFFF">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4380398" y="6409376"/>
            <a:ext cx="10106304" cy="646664"/>
            <a:chOff x="0" y="0"/>
            <a:chExt cx="2661743" cy="170315"/>
          </a:xfrm>
        </p:grpSpPr>
        <p:sp>
          <p:nvSpPr>
            <p:cNvPr name="Freeform 7" id="7"/>
            <p:cNvSpPr/>
            <p:nvPr/>
          </p:nvSpPr>
          <p:spPr>
            <a:xfrm flipH="false" flipV="false" rot="0">
              <a:off x="0" y="0"/>
              <a:ext cx="2661743" cy="170315"/>
            </a:xfrm>
            <a:custGeom>
              <a:avLst/>
              <a:gdLst/>
              <a:ahLst/>
              <a:cxnLst/>
              <a:rect r="r" b="b" t="t" l="l"/>
              <a:pathLst>
                <a:path h="170315" w="2661743">
                  <a:moveTo>
                    <a:pt x="0" y="0"/>
                  </a:moveTo>
                  <a:lnTo>
                    <a:pt x="2661743" y="0"/>
                  </a:lnTo>
                  <a:lnTo>
                    <a:pt x="2661743" y="170315"/>
                  </a:lnTo>
                  <a:lnTo>
                    <a:pt x="0" y="170315"/>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2661743" cy="20841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610563" y="3491698"/>
            <a:ext cx="13066873" cy="3032670"/>
          </a:xfrm>
          <a:prstGeom prst="rect">
            <a:avLst/>
          </a:prstGeom>
        </p:spPr>
        <p:txBody>
          <a:bodyPr anchor="t" rtlCol="false" tIns="0" lIns="0" bIns="0" rIns="0">
            <a:spAutoFit/>
          </a:bodyPr>
          <a:lstStyle/>
          <a:p>
            <a:pPr algn="ctr">
              <a:lnSpc>
                <a:spcPts val="10918"/>
              </a:lnSpc>
            </a:pPr>
            <a:r>
              <a:rPr lang="en-US" b="true" sz="12998" spc="-701">
                <a:solidFill>
                  <a:srgbClr val="1C2120"/>
                </a:solidFill>
                <a:latin typeface="Poppins Semi-Bold"/>
                <a:ea typeface="Poppins Semi-Bold"/>
                <a:cs typeface="Poppins Semi-Bold"/>
                <a:sym typeface="Poppins Semi-Bold"/>
              </a:rPr>
              <a:t>PROJET BIBLIOTHECA</a:t>
            </a:r>
          </a:p>
        </p:txBody>
      </p:sp>
      <p:sp>
        <p:nvSpPr>
          <p:cNvPr name="TextBox 10" id="10"/>
          <p:cNvSpPr txBox="true"/>
          <p:nvPr/>
        </p:nvSpPr>
        <p:spPr>
          <a:xfrm rot="0">
            <a:off x="10356570" y="8526821"/>
            <a:ext cx="6617965" cy="482339"/>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RÉALISÉ PAR : MERIEM EL KHAYAT</a:t>
            </a:r>
          </a:p>
        </p:txBody>
      </p:sp>
      <p:sp>
        <p:nvSpPr>
          <p:cNvPr name="TextBox 11" id="11"/>
          <p:cNvSpPr txBox="true"/>
          <p:nvPr/>
        </p:nvSpPr>
        <p:spPr>
          <a:xfrm rot="0">
            <a:off x="4798083" y="6510588"/>
            <a:ext cx="9270935" cy="482339"/>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TECHNOLOGIES : HTML – CSS – JAVASCRIPT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420391" y="502308"/>
            <a:ext cx="15309095" cy="1148033"/>
          </a:xfrm>
          <a:prstGeom prst="rect">
            <a:avLst/>
          </a:prstGeom>
        </p:spPr>
        <p:txBody>
          <a:bodyPr anchor="t" rtlCol="false" tIns="0" lIns="0" bIns="0" rIns="0">
            <a:spAutoFit/>
          </a:bodyPr>
          <a:lstStyle/>
          <a:p>
            <a:pPr algn="l">
              <a:lnSpc>
                <a:spcPts val="7935"/>
              </a:lnSpc>
            </a:pPr>
            <a:r>
              <a:rPr lang="en-US" sz="8180" b="true">
                <a:solidFill>
                  <a:srgbClr val="1C2120"/>
                </a:solidFill>
                <a:latin typeface="Poppins Bold"/>
                <a:ea typeface="Poppins Bold"/>
                <a:cs typeface="Poppins Bold"/>
                <a:sym typeface="Poppins Bold"/>
              </a:rPr>
              <a:t>CONTEXTE DU PROJET</a:t>
            </a:r>
          </a:p>
        </p:txBody>
      </p:sp>
      <p:sp>
        <p:nvSpPr>
          <p:cNvPr name="TextBox 3" id="3"/>
          <p:cNvSpPr txBox="true"/>
          <p:nvPr/>
        </p:nvSpPr>
        <p:spPr>
          <a:xfrm rot="0">
            <a:off x="1280374" y="3634617"/>
            <a:ext cx="13422751" cy="3584393"/>
          </a:xfrm>
          <a:prstGeom prst="rect">
            <a:avLst/>
          </a:prstGeom>
        </p:spPr>
        <p:txBody>
          <a:bodyPr anchor="t" rtlCol="false" tIns="0" lIns="0" bIns="0" rIns="0">
            <a:spAutoFit/>
          </a:bodyPr>
          <a:lstStyle/>
          <a:p>
            <a:pPr algn="l" marL="0" indent="0" lvl="0">
              <a:lnSpc>
                <a:spcPts val="4741"/>
              </a:lnSpc>
              <a:spcBef>
                <a:spcPct val="0"/>
              </a:spcBef>
            </a:pPr>
          </a:p>
          <a:p>
            <a:pPr algn="l" marL="758268" indent="-379134" lvl="1">
              <a:lnSpc>
                <a:spcPts val="4741"/>
              </a:lnSpc>
              <a:spcBef>
                <a:spcPct val="0"/>
              </a:spcBef>
              <a:buFont typeface="Arial"/>
              <a:buChar char="•"/>
            </a:pPr>
            <a:r>
              <a:rPr lang="en-US" sz="3512" spc="210" u="none">
                <a:solidFill>
                  <a:srgbClr val="000000"/>
                </a:solidFill>
                <a:latin typeface="Aileron"/>
                <a:ea typeface="Aileron"/>
                <a:cs typeface="Aileron"/>
                <a:sym typeface="Aileron"/>
              </a:rPr>
              <a:t>Gestion manuelle des livres peu efficace</a:t>
            </a:r>
          </a:p>
          <a:p>
            <a:pPr algn="l" marL="758268" indent="-379134" lvl="1">
              <a:lnSpc>
                <a:spcPts val="4741"/>
              </a:lnSpc>
              <a:spcBef>
                <a:spcPct val="0"/>
              </a:spcBef>
              <a:buFont typeface="Arial"/>
              <a:buChar char="•"/>
            </a:pPr>
            <a:r>
              <a:rPr lang="en-US" sz="3512" spc="210" u="none">
                <a:solidFill>
                  <a:srgbClr val="000000"/>
                </a:solidFill>
                <a:latin typeface="Aileron"/>
                <a:ea typeface="Aileron"/>
                <a:cs typeface="Aileron"/>
                <a:sym typeface="Aileron"/>
              </a:rPr>
              <a:t>Besoin d’une application simple et rapide</a:t>
            </a:r>
          </a:p>
          <a:p>
            <a:pPr algn="l" marL="758268" indent="-379134" lvl="1">
              <a:lnSpc>
                <a:spcPts val="4741"/>
              </a:lnSpc>
              <a:spcBef>
                <a:spcPct val="0"/>
              </a:spcBef>
              <a:buFont typeface="Arial"/>
              <a:buChar char="•"/>
            </a:pPr>
            <a:r>
              <a:rPr lang="en-US" sz="3512" spc="210" u="none">
                <a:solidFill>
                  <a:srgbClr val="000000"/>
                </a:solidFill>
                <a:latin typeface="Aileron"/>
                <a:ea typeface="Aileron"/>
                <a:cs typeface="Aileron"/>
                <a:sym typeface="Aileron"/>
              </a:rPr>
              <a:t>Apprentissage du JavaScript moderne</a:t>
            </a:r>
          </a:p>
          <a:p>
            <a:pPr algn="l" marL="0" indent="0" lvl="0">
              <a:lnSpc>
                <a:spcPts val="4741"/>
              </a:lnSpc>
              <a:spcBef>
                <a:spcPct val="0"/>
              </a:spcBef>
            </a:pPr>
          </a:p>
          <a:p>
            <a:pPr algn="l" marL="0" indent="0" lvl="0">
              <a:lnSpc>
                <a:spcPts val="4741"/>
              </a:lnSpc>
              <a:spcBef>
                <a:spcPct val="0"/>
              </a:spcBef>
            </a:pPr>
          </a:p>
        </p:txBody>
      </p:sp>
      <p:sp>
        <p:nvSpPr>
          <p:cNvPr name="Freeform 4" id="4"/>
          <p:cNvSpPr/>
          <p:nvPr/>
        </p:nvSpPr>
        <p:spPr>
          <a:xfrm flipH="false" flipV="false" rot="0">
            <a:off x="12556039" y="2406825"/>
            <a:ext cx="6182971" cy="7349814"/>
          </a:xfrm>
          <a:custGeom>
            <a:avLst/>
            <a:gdLst/>
            <a:ahLst/>
            <a:cxnLst/>
            <a:rect r="r" b="b" t="t" l="l"/>
            <a:pathLst>
              <a:path h="7349814" w="6182971">
                <a:moveTo>
                  <a:pt x="0" y="0"/>
                </a:moveTo>
                <a:lnTo>
                  <a:pt x="6182971" y="0"/>
                </a:lnTo>
                <a:lnTo>
                  <a:pt x="6182971" y="7349814"/>
                </a:lnTo>
                <a:lnTo>
                  <a:pt x="0" y="7349814"/>
                </a:lnTo>
                <a:lnTo>
                  <a:pt x="0" y="0"/>
                </a:lnTo>
                <a:close/>
              </a:path>
            </a:pathLst>
          </a:custGeom>
          <a:blipFill>
            <a:blip r:embed="rId2"/>
            <a:stretch>
              <a:fillRect l="-13752" t="-3680" r="-9494"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18937" y="3727409"/>
            <a:ext cx="12119190" cy="4193005"/>
          </a:xfrm>
          <a:prstGeom prst="rect">
            <a:avLst/>
          </a:prstGeom>
        </p:spPr>
        <p:txBody>
          <a:bodyPr anchor="t" rtlCol="false" tIns="0" lIns="0" bIns="0" rIns="0">
            <a:spAutoFit/>
          </a:bodyPr>
          <a:lstStyle/>
          <a:p>
            <a:pPr algn="l" marL="0" indent="0" lvl="0">
              <a:lnSpc>
                <a:spcPts val="4821"/>
              </a:lnSpc>
              <a:spcBef>
                <a:spcPct val="0"/>
              </a:spcBef>
            </a:pPr>
            <a:r>
              <a:rPr lang="en-US" sz="3571" spc="214">
                <a:solidFill>
                  <a:srgbClr val="000000"/>
                </a:solidFill>
                <a:latin typeface="Aileron"/>
                <a:ea typeface="Aileron"/>
                <a:cs typeface="Aileron"/>
                <a:sym typeface="Aileron"/>
              </a:rPr>
              <a:t>Obj</a:t>
            </a:r>
            <a:r>
              <a:rPr lang="en-US" sz="3571" spc="214" u="none">
                <a:solidFill>
                  <a:srgbClr val="000000"/>
                </a:solidFill>
                <a:latin typeface="Aileron"/>
                <a:ea typeface="Aileron"/>
                <a:cs typeface="Aileron"/>
                <a:sym typeface="Aileron"/>
              </a:rPr>
              <a:t>ectifs principaux :</a:t>
            </a:r>
          </a:p>
          <a:p>
            <a:pPr algn="l" marL="771151" indent="-385575" lvl="1">
              <a:lnSpc>
                <a:spcPts val="4821"/>
              </a:lnSpc>
              <a:spcBef>
                <a:spcPct val="0"/>
              </a:spcBef>
              <a:buFont typeface="Arial"/>
              <a:buChar char="•"/>
            </a:pPr>
            <a:r>
              <a:rPr lang="en-US" sz="3571" spc="214" u="none">
                <a:solidFill>
                  <a:srgbClr val="000000"/>
                </a:solidFill>
                <a:latin typeface="Aileron"/>
                <a:ea typeface="Aileron"/>
                <a:cs typeface="Aileron"/>
                <a:sym typeface="Aileron"/>
              </a:rPr>
              <a:t>Gérer les livres et les auteurs</a:t>
            </a:r>
          </a:p>
          <a:p>
            <a:pPr algn="l" marL="771151" indent="-385575" lvl="1">
              <a:lnSpc>
                <a:spcPts val="4821"/>
              </a:lnSpc>
              <a:spcBef>
                <a:spcPct val="0"/>
              </a:spcBef>
              <a:buFont typeface="Arial"/>
              <a:buChar char="•"/>
            </a:pPr>
            <a:r>
              <a:rPr lang="en-US" sz="3571" spc="214" u="none">
                <a:solidFill>
                  <a:srgbClr val="000000"/>
                </a:solidFill>
                <a:latin typeface="Aileron"/>
                <a:ea typeface="Aileron"/>
                <a:cs typeface="Aileron"/>
                <a:sym typeface="Aileron"/>
              </a:rPr>
              <a:t>Utiliser le LocalStorage</a:t>
            </a:r>
          </a:p>
          <a:p>
            <a:pPr algn="l" marL="771151" indent="-385575" lvl="1">
              <a:lnSpc>
                <a:spcPts val="4821"/>
              </a:lnSpc>
              <a:spcBef>
                <a:spcPct val="0"/>
              </a:spcBef>
              <a:buFont typeface="Arial"/>
              <a:buChar char="•"/>
            </a:pPr>
            <a:r>
              <a:rPr lang="en-US" sz="3571" spc="214" u="none">
                <a:solidFill>
                  <a:srgbClr val="000000"/>
                </a:solidFill>
                <a:latin typeface="Aileron"/>
                <a:ea typeface="Aileron"/>
                <a:cs typeface="Aileron"/>
                <a:sym typeface="Aileron"/>
              </a:rPr>
              <a:t>Créer une application SPA</a:t>
            </a:r>
          </a:p>
          <a:p>
            <a:pPr algn="l" marL="771151" indent="-385575" lvl="1">
              <a:lnSpc>
                <a:spcPts val="4821"/>
              </a:lnSpc>
              <a:spcBef>
                <a:spcPct val="0"/>
              </a:spcBef>
              <a:buFont typeface="Arial"/>
              <a:buChar char="•"/>
            </a:pPr>
            <a:r>
              <a:rPr lang="en-US" sz="3571" spc="214" u="none">
                <a:solidFill>
                  <a:srgbClr val="000000"/>
                </a:solidFill>
                <a:latin typeface="Aileron"/>
                <a:ea typeface="Aileron"/>
                <a:cs typeface="Aileron"/>
                <a:sym typeface="Aileron"/>
              </a:rPr>
              <a:t>Afficher des statistiques</a:t>
            </a:r>
          </a:p>
          <a:p>
            <a:pPr algn="l" marL="771151" indent="-385575" lvl="1">
              <a:lnSpc>
                <a:spcPts val="4821"/>
              </a:lnSpc>
              <a:spcBef>
                <a:spcPct val="0"/>
              </a:spcBef>
              <a:buFont typeface="Arial"/>
              <a:buChar char="•"/>
            </a:pPr>
            <a:r>
              <a:rPr lang="en-US" sz="3571" spc="214" u="none">
                <a:solidFill>
                  <a:srgbClr val="000000"/>
                </a:solidFill>
                <a:latin typeface="Aileron"/>
                <a:ea typeface="Aileron"/>
                <a:cs typeface="Aileron"/>
                <a:sym typeface="Aileron"/>
              </a:rPr>
              <a:t>Consommer une API externe</a:t>
            </a:r>
          </a:p>
          <a:p>
            <a:pPr algn="l" marL="0" indent="0" lvl="0">
              <a:lnSpc>
                <a:spcPts val="4657"/>
              </a:lnSpc>
              <a:spcBef>
                <a:spcPct val="0"/>
              </a:spcBef>
            </a:pPr>
          </a:p>
        </p:txBody>
      </p:sp>
      <p:grpSp>
        <p:nvGrpSpPr>
          <p:cNvPr name="Group 3" id="3"/>
          <p:cNvGrpSpPr/>
          <p:nvPr/>
        </p:nvGrpSpPr>
        <p:grpSpPr>
          <a:xfrm rot="0">
            <a:off x="2433198" y="7884818"/>
            <a:ext cx="4453782" cy="618170"/>
            <a:chOff x="0" y="0"/>
            <a:chExt cx="1173013" cy="162810"/>
          </a:xfrm>
        </p:grpSpPr>
        <p:sp>
          <p:nvSpPr>
            <p:cNvPr name="Freeform 4" id="4"/>
            <p:cNvSpPr/>
            <p:nvPr/>
          </p:nvSpPr>
          <p:spPr>
            <a:xfrm flipH="false" flipV="false" rot="0">
              <a:off x="0" y="0"/>
              <a:ext cx="1173013" cy="162810"/>
            </a:xfrm>
            <a:custGeom>
              <a:avLst/>
              <a:gdLst/>
              <a:ahLst/>
              <a:cxnLst/>
              <a:rect r="r" b="b" t="t" l="l"/>
              <a:pathLst>
                <a:path h="162810" w="1173013">
                  <a:moveTo>
                    <a:pt x="81405" y="0"/>
                  </a:moveTo>
                  <a:lnTo>
                    <a:pt x="1091607" y="0"/>
                  </a:lnTo>
                  <a:cubicBezTo>
                    <a:pt x="1113197" y="0"/>
                    <a:pt x="1133903" y="8577"/>
                    <a:pt x="1149170" y="23843"/>
                  </a:cubicBezTo>
                  <a:cubicBezTo>
                    <a:pt x="1164436" y="39109"/>
                    <a:pt x="1173013" y="59815"/>
                    <a:pt x="1173013" y="81405"/>
                  </a:cubicBezTo>
                  <a:lnTo>
                    <a:pt x="1173013" y="81405"/>
                  </a:lnTo>
                  <a:cubicBezTo>
                    <a:pt x="1173013" y="126364"/>
                    <a:pt x="1136566" y="162810"/>
                    <a:pt x="1091607" y="162810"/>
                  </a:cubicBezTo>
                  <a:lnTo>
                    <a:pt x="81405" y="162810"/>
                  </a:lnTo>
                  <a:cubicBezTo>
                    <a:pt x="36446" y="162810"/>
                    <a:pt x="0" y="126364"/>
                    <a:pt x="0" y="81405"/>
                  </a:cubicBezTo>
                  <a:lnTo>
                    <a:pt x="0" y="81405"/>
                  </a:lnTo>
                  <a:cubicBezTo>
                    <a:pt x="0" y="36446"/>
                    <a:pt x="36446" y="0"/>
                    <a:pt x="81405" y="0"/>
                  </a:cubicBezTo>
                  <a:close/>
                </a:path>
              </a:pathLst>
            </a:custGeom>
            <a:solidFill>
              <a:srgbClr val="AAD7D4"/>
            </a:solidFill>
          </p:spPr>
        </p:sp>
        <p:sp>
          <p:nvSpPr>
            <p:cNvPr name="TextBox 5" id="5"/>
            <p:cNvSpPr txBox="true"/>
            <p:nvPr/>
          </p:nvSpPr>
          <p:spPr>
            <a:xfrm>
              <a:off x="0" y="-38100"/>
              <a:ext cx="1173013" cy="20091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660025" y="3004581"/>
            <a:ext cx="6841537" cy="6968233"/>
          </a:xfrm>
          <a:custGeom>
            <a:avLst/>
            <a:gdLst/>
            <a:ahLst/>
            <a:cxnLst/>
            <a:rect r="r" b="b" t="t" l="l"/>
            <a:pathLst>
              <a:path h="6968233" w="6841537">
                <a:moveTo>
                  <a:pt x="0" y="0"/>
                </a:moveTo>
                <a:lnTo>
                  <a:pt x="6841538" y="0"/>
                </a:lnTo>
                <a:lnTo>
                  <a:pt x="6841538" y="6968233"/>
                </a:lnTo>
                <a:lnTo>
                  <a:pt x="0" y="69682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864109" y="848212"/>
            <a:ext cx="12559783" cy="132215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OBJECTIFS DU PROJET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18937" y="3717884"/>
            <a:ext cx="13581437" cy="4026858"/>
          </a:xfrm>
          <a:prstGeom prst="rect">
            <a:avLst/>
          </a:prstGeom>
        </p:spPr>
        <p:txBody>
          <a:bodyPr anchor="t" rtlCol="false" tIns="0" lIns="0" bIns="0" rIns="0">
            <a:spAutoFit/>
          </a:bodyPr>
          <a:lstStyle/>
          <a:p>
            <a:pPr algn="l" marL="0" indent="0" lvl="0">
              <a:lnSpc>
                <a:spcPts val="5403"/>
              </a:lnSpc>
              <a:spcBef>
                <a:spcPct val="0"/>
              </a:spcBef>
            </a:pPr>
            <a:r>
              <a:rPr lang="en-US" sz="4002" spc="240">
                <a:solidFill>
                  <a:srgbClr val="000000"/>
                </a:solidFill>
                <a:latin typeface="Aileron"/>
                <a:ea typeface="Aileron"/>
                <a:cs typeface="Aileron"/>
                <a:sym typeface="Aileron"/>
              </a:rPr>
              <a:t>P</a:t>
            </a:r>
            <a:r>
              <a:rPr lang="en-US" sz="4002" spc="240" u="none">
                <a:solidFill>
                  <a:srgbClr val="000000"/>
                </a:solidFill>
                <a:latin typeface="Aileron"/>
                <a:ea typeface="Aileron"/>
                <a:cs typeface="Aileron"/>
                <a:sym typeface="Aileron"/>
              </a:rPr>
              <a:t>rincipe de l’application :</a:t>
            </a:r>
          </a:p>
          <a:p>
            <a:pPr algn="l" marL="864194" indent="-432097" lvl="1">
              <a:lnSpc>
                <a:spcPts val="5403"/>
              </a:lnSpc>
              <a:spcBef>
                <a:spcPct val="0"/>
              </a:spcBef>
              <a:buFont typeface="Arial"/>
              <a:buChar char="•"/>
            </a:pPr>
            <a:r>
              <a:rPr lang="en-US" sz="4002" spc="240" u="none">
                <a:solidFill>
                  <a:srgbClr val="000000"/>
                </a:solidFill>
                <a:latin typeface="Aileron"/>
                <a:ea typeface="Aileron"/>
                <a:cs typeface="Aileron"/>
                <a:sym typeface="Aileron"/>
              </a:rPr>
              <a:t>Application sans rechargement de page</a:t>
            </a:r>
          </a:p>
          <a:p>
            <a:pPr algn="l" marL="864194" indent="-432097" lvl="1">
              <a:lnSpc>
                <a:spcPts val="5403"/>
              </a:lnSpc>
              <a:spcBef>
                <a:spcPct val="0"/>
              </a:spcBef>
              <a:buFont typeface="Arial"/>
              <a:buChar char="•"/>
            </a:pPr>
            <a:r>
              <a:rPr lang="en-US" sz="4002" spc="240" u="none">
                <a:solidFill>
                  <a:srgbClr val="000000"/>
                </a:solidFill>
                <a:latin typeface="Aileron"/>
                <a:ea typeface="Aileron"/>
                <a:cs typeface="Aileron"/>
                <a:sym typeface="Aileron"/>
              </a:rPr>
              <a:t>Navigation dynamique entre sections</a:t>
            </a:r>
          </a:p>
          <a:p>
            <a:pPr algn="l" marL="864194" indent="-432097" lvl="1">
              <a:lnSpc>
                <a:spcPts val="5403"/>
              </a:lnSpc>
              <a:spcBef>
                <a:spcPct val="0"/>
              </a:spcBef>
              <a:buFont typeface="Arial"/>
              <a:buChar char="•"/>
            </a:pPr>
            <a:r>
              <a:rPr lang="en-US" sz="4002" spc="240" u="none">
                <a:solidFill>
                  <a:srgbClr val="000000"/>
                </a:solidFill>
                <a:latin typeface="Aileron"/>
                <a:ea typeface="Aileron"/>
                <a:cs typeface="Aileron"/>
                <a:sym typeface="Aileron"/>
              </a:rPr>
              <a:t>Mise à jour en temps réel</a:t>
            </a:r>
          </a:p>
          <a:p>
            <a:pPr algn="l" marL="864194" indent="-432097" lvl="1">
              <a:lnSpc>
                <a:spcPts val="5403"/>
              </a:lnSpc>
              <a:spcBef>
                <a:spcPct val="0"/>
              </a:spcBef>
              <a:buFont typeface="Arial"/>
              <a:buChar char="•"/>
            </a:pPr>
            <a:r>
              <a:rPr lang="en-US" sz="4002" spc="240" u="none">
                <a:solidFill>
                  <a:srgbClr val="000000"/>
                </a:solidFill>
                <a:latin typeface="Aileron"/>
                <a:ea typeface="Aileron"/>
                <a:cs typeface="Aileron"/>
                <a:sym typeface="Aileron"/>
              </a:rPr>
              <a:t>D</a:t>
            </a:r>
            <a:r>
              <a:rPr lang="en-US" sz="4002" spc="240" u="none">
                <a:solidFill>
                  <a:srgbClr val="000000"/>
                </a:solidFill>
                <a:latin typeface="Aileron"/>
                <a:ea typeface="Aileron"/>
                <a:cs typeface="Aileron"/>
                <a:sym typeface="Aileron"/>
              </a:rPr>
              <a:t>onnées persistantes</a:t>
            </a:r>
          </a:p>
          <a:p>
            <a:pPr algn="l" marL="0" indent="0" lvl="0">
              <a:lnSpc>
                <a:spcPts val="5219"/>
              </a:lnSpc>
              <a:spcBef>
                <a:spcPct val="0"/>
              </a:spcBef>
            </a:pPr>
          </a:p>
        </p:txBody>
      </p:sp>
      <p:sp>
        <p:nvSpPr>
          <p:cNvPr name="Freeform 3" id="3"/>
          <p:cNvSpPr/>
          <p:nvPr/>
        </p:nvSpPr>
        <p:spPr>
          <a:xfrm flipH="false" flipV="false" rot="0">
            <a:off x="12742975" y="378455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602697" y="705830"/>
            <a:ext cx="15656603" cy="132215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FONCTIONNEMENT GÉNÉRAL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90102" y="3040201"/>
            <a:ext cx="7097898" cy="5058865"/>
          </a:xfrm>
          <a:custGeom>
            <a:avLst/>
            <a:gdLst/>
            <a:ahLst/>
            <a:cxnLst/>
            <a:rect r="r" b="b" t="t" l="l"/>
            <a:pathLst>
              <a:path h="5058865" w="7097898">
                <a:moveTo>
                  <a:pt x="0" y="0"/>
                </a:moveTo>
                <a:lnTo>
                  <a:pt x="7097898" y="0"/>
                </a:lnTo>
                <a:lnTo>
                  <a:pt x="7097898" y="5058865"/>
                </a:lnTo>
                <a:lnTo>
                  <a:pt x="0" y="5058865"/>
                </a:lnTo>
                <a:lnTo>
                  <a:pt x="0" y="0"/>
                </a:lnTo>
                <a:close/>
              </a:path>
            </a:pathLst>
          </a:custGeom>
          <a:blipFill>
            <a:blip r:embed="rId2"/>
            <a:stretch>
              <a:fillRect l="0" t="0" r="0" b="0"/>
            </a:stretch>
          </a:blipFill>
        </p:spPr>
      </p:sp>
      <p:sp>
        <p:nvSpPr>
          <p:cNvPr name="TextBox 3" id="3"/>
          <p:cNvSpPr txBox="true"/>
          <p:nvPr/>
        </p:nvSpPr>
        <p:spPr>
          <a:xfrm rot="0">
            <a:off x="848945" y="2834983"/>
            <a:ext cx="9418551" cy="7512686"/>
          </a:xfrm>
          <a:prstGeom prst="rect">
            <a:avLst/>
          </a:prstGeom>
        </p:spPr>
        <p:txBody>
          <a:bodyPr anchor="t" rtlCol="false" tIns="0" lIns="0" bIns="0" rIns="0">
            <a:spAutoFit/>
          </a:bodyPr>
          <a:lstStyle/>
          <a:p>
            <a:pPr algn="l" marL="0" indent="0" lvl="0">
              <a:lnSpc>
                <a:spcPts val="4989"/>
              </a:lnSpc>
              <a:spcBef>
                <a:spcPct val="0"/>
              </a:spcBef>
            </a:pPr>
            <a:r>
              <a:rPr lang="en-US" b="true" sz="3696" spc="221">
                <a:solidFill>
                  <a:srgbClr val="000000"/>
                </a:solidFill>
                <a:latin typeface="Aileron Bold"/>
                <a:ea typeface="Aileron Bold"/>
                <a:cs typeface="Aileron Bold"/>
                <a:sym typeface="Aileron Bold"/>
              </a:rPr>
              <a:t>M</a:t>
            </a:r>
            <a:r>
              <a:rPr lang="en-US" b="true" sz="3696" spc="221" u="none">
                <a:solidFill>
                  <a:srgbClr val="000000"/>
                </a:solidFill>
                <a:latin typeface="Aileron Bold"/>
                <a:ea typeface="Aileron Bold"/>
                <a:cs typeface="Aileron Bold"/>
                <a:sym typeface="Aileron Bold"/>
              </a:rPr>
              <a:t>odule Livres :</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Ajouter un livre (titre et auteur)</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Afficher l</a:t>
            </a:r>
            <a:r>
              <a:rPr lang="en-US" sz="3696" spc="221" u="none">
                <a:solidFill>
                  <a:srgbClr val="000000"/>
                </a:solidFill>
                <a:latin typeface="Aileron"/>
                <a:ea typeface="Aileron"/>
                <a:cs typeface="Aileron"/>
                <a:sym typeface="Aileron"/>
              </a:rPr>
              <a:t>a liste des livres</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Suppr</a:t>
            </a:r>
            <a:r>
              <a:rPr lang="en-US" sz="3696" spc="221" u="none">
                <a:solidFill>
                  <a:srgbClr val="000000"/>
                </a:solidFill>
                <a:latin typeface="Aileron"/>
                <a:ea typeface="Aileron"/>
                <a:cs typeface="Aileron"/>
                <a:sym typeface="Aileron"/>
              </a:rPr>
              <a:t>imer un livre</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Sauvegarde automatique</a:t>
            </a:r>
          </a:p>
          <a:p>
            <a:pPr algn="l" marL="0" indent="0" lvl="0">
              <a:lnSpc>
                <a:spcPts val="4989"/>
              </a:lnSpc>
              <a:spcBef>
                <a:spcPct val="0"/>
              </a:spcBef>
            </a:pPr>
            <a:r>
              <a:rPr lang="en-US" b="true" sz="3696" spc="221" u="none">
                <a:solidFill>
                  <a:srgbClr val="000000"/>
                </a:solidFill>
                <a:latin typeface="Aileron Bold"/>
                <a:ea typeface="Aileron Bold"/>
                <a:cs typeface="Aileron Bold"/>
                <a:sym typeface="Aileron Bold"/>
              </a:rPr>
              <a:t>Module Auteurs :</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Ajouter et supprimer des auteurs</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Affichage dynamique</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Mise à jour automatique du tableau de bord</a:t>
            </a:r>
          </a:p>
          <a:p>
            <a:pPr algn="l">
              <a:lnSpc>
                <a:spcPts val="4989"/>
              </a:lnSpc>
              <a:spcBef>
                <a:spcPct val="0"/>
              </a:spcBef>
            </a:pPr>
          </a:p>
          <a:p>
            <a:pPr algn="l" marL="0" indent="0" lvl="0">
              <a:lnSpc>
                <a:spcPts val="4819"/>
              </a:lnSpc>
              <a:spcBef>
                <a:spcPct val="0"/>
              </a:spcBef>
            </a:pPr>
          </a:p>
        </p:txBody>
      </p:sp>
      <p:sp>
        <p:nvSpPr>
          <p:cNvPr name="TextBox 4" id="4"/>
          <p:cNvSpPr txBox="true"/>
          <p:nvPr/>
        </p:nvSpPr>
        <p:spPr>
          <a:xfrm rot="0">
            <a:off x="641615" y="705830"/>
            <a:ext cx="19251762" cy="132215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GESTION DES LIVRES ET AUTEURS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462974"/>
            <a:ext cx="8115300" cy="4312339"/>
          </a:xfrm>
          <a:prstGeom prst="rect">
            <a:avLst/>
          </a:prstGeom>
        </p:spPr>
        <p:txBody>
          <a:bodyPr anchor="t" rtlCol="false" tIns="0" lIns="0" bIns="0" rIns="0">
            <a:spAutoFit/>
          </a:bodyPr>
          <a:lstStyle/>
          <a:p>
            <a:pPr algn="l" marL="0" indent="0" lvl="0">
              <a:lnSpc>
                <a:spcPts val="4299"/>
              </a:lnSpc>
              <a:spcBef>
                <a:spcPct val="0"/>
              </a:spcBef>
            </a:pPr>
            <a:r>
              <a:rPr lang="en-US" b="true" sz="3184" spc="191">
                <a:solidFill>
                  <a:srgbClr val="000000"/>
                </a:solidFill>
                <a:latin typeface="Aileron Bold"/>
                <a:ea typeface="Aileron Bold"/>
                <a:cs typeface="Aileron Bold"/>
                <a:sym typeface="Aileron Bold"/>
              </a:rPr>
              <a:t>L</a:t>
            </a:r>
            <a:r>
              <a:rPr lang="en-US" b="true" sz="3184" spc="191" u="none">
                <a:solidFill>
                  <a:srgbClr val="000000"/>
                </a:solidFill>
                <a:latin typeface="Aileron Bold"/>
                <a:ea typeface="Aileron Bold"/>
                <a:cs typeface="Aileron Bold"/>
                <a:sym typeface="Aileron Bold"/>
              </a:rPr>
              <a:t>ocalStorage :</a:t>
            </a:r>
          </a:p>
          <a:p>
            <a:pPr algn="l" marL="687577" indent="-343789" lvl="1">
              <a:lnSpc>
                <a:spcPts val="4299"/>
              </a:lnSpc>
              <a:spcBef>
                <a:spcPct val="0"/>
              </a:spcBef>
              <a:buFont typeface="Arial"/>
              <a:buChar char="•"/>
            </a:pPr>
            <a:r>
              <a:rPr lang="en-US" b="true" sz="3184" spc="191" u="none">
                <a:solidFill>
                  <a:srgbClr val="000000"/>
                </a:solidFill>
                <a:latin typeface="Aileron Bold"/>
                <a:ea typeface="Aileron Bold"/>
                <a:cs typeface="Aileron Bold"/>
                <a:sym typeface="Aileron Bold"/>
              </a:rPr>
              <a:t>Données enregistrées dans le navigateur</a:t>
            </a:r>
          </a:p>
          <a:p>
            <a:pPr algn="l" marL="687577" indent="-343789" lvl="1">
              <a:lnSpc>
                <a:spcPts val="4299"/>
              </a:lnSpc>
              <a:spcBef>
                <a:spcPct val="0"/>
              </a:spcBef>
              <a:buFont typeface="Arial"/>
              <a:buChar char="•"/>
            </a:pPr>
            <a:r>
              <a:rPr lang="en-US" b="true" sz="3184" spc="191" u="none">
                <a:solidFill>
                  <a:srgbClr val="000000"/>
                </a:solidFill>
                <a:latin typeface="Aileron Bold"/>
                <a:ea typeface="Aileron Bold"/>
                <a:cs typeface="Aileron Bold"/>
                <a:sym typeface="Aileron Bold"/>
              </a:rPr>
              <a:t>Conservation après rechargement</a:t>
            </a:r>
          </a:p>
          <a:p>
            <a:pPr algn="l" marL="687577" indent="-343789" lvl="1">
              <a:lnSpc>
                <a:spcPts val="4299"/>
              </a:lnSpc>
              <a:spcBef>
                <a:spcPct val="0"/>
              </a:spcBef>
              <a:buFont typeface="Arial"/>
              <a:buChar char="•"/>
            </a:pPr>
            <a:r>
              <a:rPr lang="en-US" b="true" sz="3184" spc="191" u="none">
                <a:solidFill>
                  <a:srgbClr val="000000"/>
                </a:solidFill>
                <a:latin typeface="Aileron Bold"/>
                <a:ea typeface="Aileron Bold"/>
                <a:cs typeface="Aileron Bold"/>
                <a:sym typeface="Aileron Bold"/>
              </a:rPr>
              <a:t>Pa</a:t>
            </a:r>
            <a:r>
              <a:rPr lang="en-US" b="true" sz="3184" spc="191" u="none">
                <a:solidFill>
                  <a:srgbClr val="000000"/>
                </a:solidFill>
                <a:latin typeface="Aileron Bold"/>
                <a:ea typeface="Aileron Bold"/>
                <a:cs typeface="Aileron Bold"/>
                <a:sym typeface="Aileron Bold"/>
              </a:rPr>
              <a:t>s besoin de base de données serveur</a:t>
            </a:r>
          </a:p>
          <a:p>
            <a:pPr algn="l">
              <a:lnSpc>
                <a:spcPts val="4299"/>
              </a:lnSpc>
              <a:spcBef>
                <a:spcPct val="0"/>
              </a:spcBef>
            </a:pPr>
          </a:p>
          <a:p>
            <a:pPr algn="l" marL="0" indent="0" lvl="0">
              <a:lnSpc>
                <a:spcPts val="4153"/>
              </a:lnSpc>
              <a:spcBef>
                <a:spcPct val="0"/>
              </a:spcBef>
            </a:pPr>
          </a:p>
        </p:txBody>
      </p:sp>
      <p:sp>
        <p:nvSpPr>
          <p:cNvPr name="AutoShape 3" id="3"/>
          <p:cNvSpPr/>
          <p:nvPr/>
        </p:nvSpPr>
        <p:spPr>
          <a:xfrm>
            <a:off x="5897880" y="5819817"/>
            <a:ext cx="6492240" cy="0"/>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2555999" y="6172200"/>
            <a:ext cx="4326684" cy="3508548"/>
          </a:xfrm>
          <a:custGeom>
            <a:avLst/>
            <a:gdLst/>
            <a:ahLst/>
            <a:cxnLst/>
            <a:rect r="r" b="b" t="t" l="l"/>
            <a:pathLst>
              <a:path h="3508548" w="4326684">
                <a:moveTo>
                  <a:pt x="0" y="0"/>
                </a:moveTo>
                <a:lnTo>
                  <a:pt x="4326685" y="0"/>
                </a:lnTo>
                <a:lnTo>
                  <a:pt x="4326685" y="3508548"/>
                </a:lnTo>
                <a:lnTo>
                  <a:pt x="0" y="35085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390120" y="2223487"/>
            <a:ext cx="4481465" cy="4114800"/>
          </a:xfrm>
          <a:custGeom>
            <a:avLst/>
            <a:gdLst/>
            <a:ahLst/>
            <a:cxnLst/>
            <a:rect r="r" b="b" t="t" l="l"/>
            <a:pathLst>
              <a:path h="4114800" w="4481465">
                <a:moveTo>
                  <a:pt x="0" y="0"/>
                </a:moveTo>
                <a:lnTo>
                  <a:pt x="4481465" y="0"/>
                </a:lnTo>
                <a:lnTo>
                  <a:pt x="44814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41615" y="726167"/>
            <a:ext cx="18148298" cy="1281476"/>
          </a:xfrm>
          <a:prstGeom prst="rect">
            <a:avLst/>
          </a:prstGeom>
        </p:spPr>
        <p:txBody>
          <a:bodyPr anchor="t" rtlCol="false" tIns="0" lIns="0" bIns="0" rIns="0">
            <a:spAutoFit/>
          </a:bodyPr>
          <a:lstStyle/>
          <a:p>
            <a:pPr algn="l">
              <a:lnSpc>
                <a:spcPts val="9316"/>
              </a:lnSpc>
            </a:pPr>
            <a:r>
              <a:rPr lang="en-US" sz="8172" b="true">
                <a:solidFill>
                  <a:srgbClr val="1C2120"/>
                </a:solidFill>
                <a:latin typeface="Poppins Bold"/>
                <a:ea typeface="Poppins Bold"/>
                <a:cs typeface="Poppins Bold"/>
                <a:sym typeface="Poppins Bold"/>
              </a:rPr>
              <a:t>STOCKAGE LOCAL &amp; DASHBOARD</a:t>
            </a:r>
          </a:p>
        </p:txBody>
      </p:sp>
      <p:sp>
        <p:nvSpPr>
          <p:cNvPr name="TextBox 7" id="7"/>
          <p:cNvSpPr txBox="true"/>
          <p:nvPr/>
        </p:nvSpPr>
        <p:spPr>
          <a:xfrm rot="0">
            <a:off x="8922324" y="6496982"/>
            <a:ext cx="8336976" cy="2761318"/>
          </a:xfrm>
          <a:prstGeom prst="rect">
            <a:avLst/>
          </a:prstGeom>
        </p:spPr>
        <p:txBody>
          <a:bodyPr anchor="t" rtlCol="false" tIns="0" lIns="0" bIns="0" rIns="0">
            <a:spAutoFit/>
          </a:bodyPr>
          <a:lstStyle/>
          <a:p>
            <a:pPr algn="l" marL="0" indent="0" lvl="0">
              <a:lnSpc>
                <a:spcPts val="4416"/>
              </a:lnSpc>
              <a:spcBef>
                <a:spcPct val="0"/>
              </a:spcBef>
            </a:pPr>
            <a:r>
              <a:rPr lang="en-US" b="true" sz="3271" spc="196">
                <a:solidFill>
                  <a:srgbClr val="000000"/>
                </a:solidFill>
                <a:latin typeface="Aileron Bold"/>
                <a:ea typeface="Aileron Bold"/>
                <a:cs typeface="Aileron Bold"/>
                <a:sym typeface="Aileron Bold"/>
              </a:rPr>
              <a:t>Dashb</a:t>
            </a:r>
            <a:r>
              <a:rPr lang="en-US" b="true" sz="3271" spc="196" u="none">
                <a:solidFill>
                  <a:srgbClr val="000000"/>
                </a:solidFill>
                <a:latin typeface="Aileron Bold"/>
                <a:ea typeface="Aileron Bold"/>
                <a:cs typeface="Aileron Bold"/>
                <a:sym typeface="Aileron Bold"/>
              </a:rPr>
              <a:t>oard :</a:t>
            </a:r>
          </a:p>
          <a:p>
            <a:pPr algn="l" marL="706359" indent="-353180" lvl="1">
              <a:lnSpc>
                <a:spcPts val="4416"/>
              </a:lnSpc>
              <a:spcBef>
                <a:spcPct val="0"/>
              </a:spcBef>
              <a:buFont typeface="Arial"/>
              <a:buChar char="•"/>
            </a:pPr>
            <a:r>
              <a:rPr lang="en-US" b="true" sz="3271" spc="196" u="none">
                <a:solidFill>
                  <a:srgbClr val="000000"/>
                </a:solidFill>
                <a:latin typeface="Aileron Bold"/>
                <a:ea typeface="Aileron Bold"/>
                <a:cs typeface="Aileron Bold"/>
                <a:sym typeface="Aileron Bold"/>
              </a:rPr>
              <a:t>Nombre tota</a:t>
            </a:r>
            <a:r>
              <a:rPr lang="en-US" b="true" sz="3271" spc="196" u="none">
                <a:solidFill>
                  <a:srgbClr val="000000"/>
                </a:solidFill>
                <a:latin typeface="Aileron Bold"/>
                <a:ea typeface="Aileron Bold"/>
                <a:cs typeface="Aileron Bold"/>
                <a:sym typeface="Aileron Bold"/>
              </a:rPr>
              <a:t>l</a:t>
            </a:r>
            <a:r>
              <a:rPr lang="en-US" b="true" sz="3271" spc="196" u="none">
                <a:solidFill>
                  <a:srgbClr val="000000"/>
                </a:solidFill>
                <a:latin typeface="Aileron Bold"/>
                <a:ea typeface="Aileron Bold"/>
                <a:cs typeface="Aileron Bold"/>
                <a:sym typeface="Aileron Bold"/>
              </a:rPr>
              <a:t> de livres</a:t>
            </a:r>
          </a:p>
          <a:p>
            <a:pPr algn="l" marL="706359" indent="-353180" lvl="1">
              <a:lnSpc>
                <a:spcPts val="4416"/>
              </a:lnSpc>
              <a:spcBef>
                <a:spcPct val="0"/>
              </a:spcBef>
              <a:buFont typeface="Arial"/>
              <a:buChar char="•"/>
            </a:pPr>
            <a:r>
              <a:rPr lang="en-US" b="true" sz="3271" spc="196" u="none">
                <a:solidFill>
                  <a:srgbClr val="000000"/>
                </a:solidFill>
                <a:latin typeface="Aileron Bold"/>
                <a:ea typeface="Aileron Bold"/>
                <a:cs typeface="Aileron Bold"/>
                <a:sym typeface="Aileron Bold"/>
              </a:rPr>
              <a:t>No</a:t>
            </a:r>
            <a:r>
              <a:rPr lang="en-US" b="true" sz="3271" spc="196" u="none">
                <a:solidFill>
                  <a:srgbClr val="000000"/>
                </a:solidFill>
                <a:latin typeface="Aileron Bold"/>
                <a:ea typeface="Aileron Bold"/>
                <a:cs typeface="Aileron Bold"/>
                <a:sym typeface="Aileron Bold"/>
              </a:rPr>
              <a:t>mbre total d’auteurs</a:t>
            </a:r>
          </a:p>
          <a:p>
            <a:pPr algn="l" marL="706359" indent="-353180" lvl="1">
              <a:lnSpc>
                <a:spcPts val="4416"/>
              </a:lnSpc>
              <a:spcBef>
                <a:spcPct val="0"/>
              </a:spcBef>
              <a:buFont typeface="Arial"/>
              <a:buChar char="•"/>
            </a:pPr>
            <a:r>
              <a:rPr lang="en-US" b="true" sz="3271" spc="196" u="none">
                <a:solidFill>
                  <a:srgbClr val="000000"/>
                </a:solidFill>
                <a:latin typeface="Aileron Bold"/>
                <a:ea typeface="Aileron Bold"/>
                <a:cs typeface="Aileron Bold"/>
                <a:sym typeface="Aileron Bold"/>
              </a:rPr>
              <a:t>Nombre de livres depuis l’API</a:t>
            </a:r>
          </a:p>
          <a:p>
            <a:pPr algn="l" marL="0" indent="0" lvl="0">
              <a:lnSpc>
                <a:spcPts val="426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48945" y="2834983"/>
            <a:ext cx="9418551" cy="6255386"/>
          </a:xfrm>
          <a:prstGeom prst="rect">
            <a:avLst/>
          </a:prstGeom>
        </p:spPr>
        <p:txBody>
          <a:bodyPr anchor="t" rtlCol="false" tIns="0" lIns="0" bIns="0" rIns="0">
            <a:spAutoFit/>
          </a:bodyPr>
          <a:lstStyle/>
          <a:p>
            <a:pPr algn="l" marL="0" indent="0" lvl="0">
              <a:lnSpc>
                <a:spcPts val="4989"/>
              </a:lnSpc>
              <a:spcBef>
                <a:spcPct val="0"/>
              </a:spcBef>
            </a:pPr>
            <a:r>
              <a:rPr lang="en-US" b="true" sz="3696" spc="221">
                <a:solidFill>
                  <a:srgbClr val="000000"/>
                </a:solidFill>
                <a:latin typeface="Aileron Bold"/>
                <a:ea typeface="Aileron Bold"/>
                <a:cs typeface="Aileron Bold"/>
                <a:sym typeface="Aileron Bold"/>
              </a:rPr>
              <a:t>API</a:t>
            </a:r>
            <a:r>
              <a:rPr lang="en-US" b="true" sz="3696" spc="221" u="none">
                <a:solidFill>
                  <a:srgbClr val="000000"/>
                </a:solidFill>
                <a:latin typeface="Aileron Bold"/>
                <a:ea typeface="Aileron Bold"/>
                <a:cs typeface="Aileron Bold"/>
                <a:sym typeface="Aileron Bold"/>
              </a:rPr>
              <a:t> OpenLibrary :</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Utilisation de Fetch API</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Récupér</a:t>
            </a:r>
            <a:r>
              <a:rPr lang="en-US" sz="3696" spc="221" u="none">
                <a:solidFill>
                  <a:srgbClr val="000000"/>
                </a:solidFill>
                <a:latin typeface="Aileron"/>
                <a:ea typeface="Aileron"/>
                <a:cs typeface="Aileron"/>
                <a:sym typeface="Aileron"/>
              </a:rPr>
              <a:t>ation de livres Java</a:t>
            </a:r>
            <a:r>
              <a:rPr lang="en-US" sz="3696" spc="221" u="none">
                <a:solidFill>
                  <a:srgbClr val="000000"/>
                </a:solidFill>
                <a:latin typeface="Aileron"/>
                <a:ea typeface="Aileron"/>
                <a:cs typeface="Aileron"/>
                <a:sym typeface="Aileron"/>
              </a:rPr>
              <a:t>Script</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Tra</a:t>
            </a:r>
            <a:r>
              <a:rPr lang="en-US" sz="3696" spc="221" u="none">
                <a:solidFill>
                  <a:srgbClr val="000000"/>
                </a:solidFill>
                <a:latin typeface="Aileron"/>
                <a:ea typeface="Aileron"/>
                <a:cs typeface="Aileron"/>
                <a:sym typeface="Aileron"/>
              </a:rPr>
              <a:t>itement des données JSON</a:t>
            </a:r>
          </a:p>
          <a:p>
            <a:pPr algn="l">
              <a:lnSpc>
                <a:spcPts val="4989"/>
              </a:lnSpc>
              <a:spcBef>
                <a:spcPct val="0"/>
              </a:spcBef>
            </a:pPr>
            <a:r>
              <a:rPr lang="en-US" b="true" sz="3696" spc="221" u="none">
                <a:solidFill>
                  <a:srgbClr val="000000"/>
                </a:solidFill>
                <a:latin typeface="Aileron Bold"/>
                <a:ea typeface="Aileron Bold"/>
                <a:cs typeface="Aileron Bold"/>
                <a:sym typeface="Aileron Bold"/>
              </a:rPr>
              <a:t>Chart.js :</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Gr</a:t>
            </a:r>
            <a:r>
              <a:rPr lang="en-US" sz="3696" spc="221" u="none">
                <a:solidFill>
                  <a:srgbClr val="000000"/>
                </a:solidFill>
                <a:latin typeface="Aileron"/>
                <a:ea typeface="Aileron"/>
                <a:cs typeface="Aileron"/>
                <a:sym typeface="Aileron"/>
              </a:rPr>
              <a:t>aphique à barres</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Comparaison entre livres locaux et livres API</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Mise à jour automatique</a:t>
            </a:r>
          </a:p>
          <a:p>
            <a:pPr algn="l" marL="0" indent="0" lvl="0">
              <a:lnSpc>
                <a:spcPts val="4819"/>
              </a:lnSpc>
              <a:spcBef>
                <a:spcPct val="0"/>
              </a:spcBef>
            </a:pPr>
          </a:p>
        </p:txBody>
      </p:sp>
      <p:sp>
        <p:nvSpPr>
          <p:cNvPr name="Freeform 3" id="3"/>
          <p:cNvSpPr/>
          <p:nvPr/>
        </p:nvSpPr>
        <p:spPr>
          <a:xfrm flipH="false" flipV="false" rot="0">
            <a:off x="11614158" y="2892133"/>
            <a:ext cx="4870162" cy="5411291"/>
          </a:xfrm>
          <a:custGeom>
            <a:avLst/>
            <a:gdLst/>
            <a:ahLst/>
            <a:cxnLst/>
            <a:rect r="r" b="b" t="t" l="l"/>
            <a:pathLst>
              <a:path h="5411291" w="4870162">
                <a:moveTo>
                  <a:pt x="0" y="0"/>
                </a:moveTo>
                <a:lnTo>
                  <a:pt x="4870162" y="0"/>
                </a:lnTo>
                <a:lnTo>
                  <a:pt x="4870162" y="5411291"/>
                </a:lnTo>
                <a:lnTo>
                  <a:pt x="0" y="54112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917502" y="599043"/>
            <a:ext cx="12452996" cy="132215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API &amp; VISUALISATION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834983"/>
            <a:ext cx="9418551" cy="6255386"/>
          </a:xfrm>
          <a:prstGeom prst="rect">
            <a:avLst/>
          </a:prstGeom>
        </p:spPr>
        <p:txBody>
          <a:bodyPr anchor="t" rtlCol="false" tIns="0" lIns="0" bIns="0" rIns="0">
            <a:spAutoFit/>
          </a:bodyPr>
          <a:lstStyle/>
          <a:p>
            <a:pPr algn="l" marL="0" indent="0" lvl="0">
              <a:lnSpc>
                <a:spcPts val="4989"/>
              </a:lnSpc>
              <a:spcBef>
                <a:spcPct val="0"/>
              </a:spcBef>
            </a:pPr>
            <a:r>
              <a:rPr lang="en-US" b="true" sz="3696" spc="221">
                <a:solidFill>
                  <a:srgbClr val="000000"/>
                </a:solidFill>
                <a:latin typeface="Aileron Bold"/>
                <a:ea typeface="Aileron Bold"/>
                <a:cs typeface="Aileron Bold"/>
                <a:sym typeface="Aileron Bold"/>
              </a:rPr>
              <a:t>T</a:t>
            </a:r>
            <a:r>
              <a:rPr lang="en-US" b="true" sz="3696" spc="221" u="none">
                <a:solidFill>
                  <a:srgbClr val="000000"/>
                </a:solidFill>
                <a:latin typeface="Aileron Bold"/>
                <a:ea typeface="Aileron Bold"/>
                <a:cs typeface="Aileron Bold"/>
                <a:sym typeface="Aileron Bold"/>
              </a:rPr>
              <a:t>echnologies utilisées :</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HTML : struct</a:t>
            </a:r>
            <a:r>
              <a:rPr lang="en-US" sz="3696" spc="221" u="none">
                <a:solidFill>
                  <a:srgbClr val="000000"/>
                </a:solidFill>
                <a:latin typeface="Aileron"/>
                <a:ea typeface="Aileron"/>
                <a:cs typeface="Aileron"/>
                <a:sym typeface="Aileron"/>
              </a:rPr>
              <a:t>ure</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CSS :</a:t>
            </a:r>
            <a:r>
              <a:rPr lang="en-US" sz="3696" spc="221" u="none">
                <a:solidFill>
                  <a:srgbClr val="000000"/>
                </a:solidFill>
                <a:latin typeface="Aileron"/>
                <a:ea typeface="Aileron"/>
                <a:cs typeface="Aileron"/>
                <a:sym typeface="Aileron"/>
              </a:rPr>
              <a:t> design</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Java</a:t>
            </a:r>
            <a:r>
              <a:rPr lang="en-US" sz="3696" spc="221" u="none">
                <a:solidFill>
                  <a:srgbClr val="000000"/>
                </a:solidFill>
                <a:latin typeface="Aileron"/>
                <a:ea typeface="Aileron"/>
                <a:cs typeface="Aileron"/>
                <a:sym typeface="Aileron"/>
              </a:rPr>
              <a:t>Script : logique</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LocalS</a:t>
            </a:r>
            <a:r>
              <a:rPr lang="en-US" sz="3696" spc="221" u="none">
                <a:solidFill>
                  <a:srgbClr val="000000"/>
                </a:solidFill>
                <a:latin typeface="Aileron"/>
                <a:ea typeface="Aileron"/>
                <a:cs typeface="Aileron"/>
                <a:sym typeface="Aileron"/>
              </a:rPr>
              <a:t>torage, Fetch API, Chart.js</a:t>
            </a:r>
          </a:p>
          <a:p>
            <a:pPr algn="l">
              <a:lnSpc>
                <a:spcPts val="4989"/>
              </a:lnSpc>
              <a:spcBef>
                <a:spcPct val="0"/>
              </a:spcBef>
            </a:pPr>
            <a:r>
              <a:rPr lang="en-US" b="true" sz="3696" spc="221" u="none">
                <a:solidFill>
                  <a:srgbClr val="000000"/>
                </a:solidFill>
                <a:latin typeface="Aileron Bold"/>
                <a:ea typeface="Aileron Bold"/>
                <a:cs typeface="Aileron Bold"/>
                <a:sym typeface="Aileron Bold"/>
              </a:rPr>
              <a:t>Lim</a:t>
            </a:r>
            <a:r>
              <a:rPr lang="en-US" b="true" sz="3696" spc="221" u="none">
                <a:solidFill>
                  <a:srgbClr val="000000"/>
                </a:solidFill>
                <a:latin typeface="Aileron Bold"/>
                <a:ea typeface="Aileron Bold"/>
                <a:cs typeface="Aileron Bold"/>
                <a:sym typeface="Aileron Bold"/>
              </a:rPr>
              <a:t>ites du projet :</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P</a:t>
            </a:r>
            <a:r>
              <a:rPr lang="en-US" sz="3696" spc="221" u="none">
                <a:solidFill>
                  <a:srgbClr val="000000"/>
                </a:solidFill>
                <a:latin typeface="Aileron"/>
                <a:ea typeface="Aileron"/>
                <a:cs typeface="Aileron"/>
                <a:sym typeface="Aileron"/>
              </a:rPr>
              <a:t>as d’authentification</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Pas de base de données serveur</a:t>
            </a:r>
          </a:p>
          <a:p>
            <a:pPr algn="l" marL="797997" indent="-398999" lvl="1">
              <a:lnSpc>
                <a:spcPts val="4989"/>
              </a:lnSpc>
              <a:spcBef>
                <a:spcPct val="0"/>
              </a:spcBef>
              <a:buFont typeface="Arial"/>
              <a:buChar char="•"/>
            </a:pPr>
            <a:r>
              <a:rPr lang="en-US" sz="3696" spc="221" u="none">
                <a:solidFill>
                  <a:srgbClr val="000000"/>
                </a:solidFill>
                <a:latin typeface="Aileron"/>
                <a:ea typeface="Aileron"/>
                <a:cs typeface="Aileron"/>
                <a:sym typeface="Aileron"/>
              </a:rPr>
              <a:t>Design simple</a:t>
            </a:r>
          </a:p>
          <a:p>
            <a:pPr algn="l" marL="0" indent="0" lvl="0">
              <a:lnSpc>
                <a:spcPts val="4819"/>
              </a:lnSpc>
              <a:spcBef>
                <a:spcPct val="0"/>
              </a:spcBef>
            </a:pPr>
          </a:p>
        </p:txBody>
      </p:sp>
      <p:sp>
        <p:nvSpPr>
          <p:cNvPr name="Freeform 3" id="3"/>
          <p:cNvSpPr/>
          <p:nvPr/>
        </p:nvSpPr>
        <p:spPr>
          <a:xfrm flipH="false" flipV="false" rot="0">
            <a:off x="12804205" y="2552165"/>
            <a:ext cx="2754943" cy="2832184"/>
          </a:xfrm>
          <a:custGeom>
            <a:avLst/>
            <a:gdLst/>
            <a:ahLst/>
            <a:cxnLst/>
            <a:rect r="r" b="b" t="t" l="l"/>
            <a:pathLst>
              <a:path h="2832184" w="2754943">
                <a:moveTo>
                  <a:pt x="0" y="0"/>
                </a:moveTo>
                <a:lnTo>
                  <a:pt x="2754943" y="0"/>
                </a:lnTo>
                <a:lnTo>
                  <a:pt x="2754943" y="2832185"/>
                </a:lnTo>
                <a:lnTo>
                  <a:pt x="0" y="28321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4646" y="6185218"/>
            <a:ext cx="2519559" cy="2905151"/>
          </a:xfrm>
          <a:custGeom>
            <a:avLst/>
            <a:gdLst/>
            <a:ahLst/>
            <a:cxnLst/>
            <a:rect r="r" b="b" t="t" l="l"/>
            <a:pathLst>
              <a:path h="2905151" w="2519559">
                <a:moveTo>
                  <a:pt x="0" y="0"/>
                </a:moveTo>
                <a:lnTo>
                  <a:pt x="2519559" y="0"/>
                </a:lnTo>
                <a:lnTo>
                  <a:pt x="2519559" y="2905152"/>
                </a:lnTo>
                <a:lnTo>
                  <a:pt x="0" y="2905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481829" y="5991251"/>
            <a:ext cx="2154638" cy="3038592"/>
          </a:xfrm>
          <a:custGeom>
            <a:avLst/>
            <a:gdLst/>
            <a:ahLst/>
            <a:cxnLst/>
            <a:rect r="r" b="b" t="t" l="l"/>
            <a:pathLst>
              <a:path h="3038592" w="2154638">
                <a:moveTo>
                  <a:pt x="0" y="0"/>
                </a:moveTo>
                <a:lnTo>
                  <a:pt x="2154638" y="0"/>
                </a:lnTo>
                <a:lnTo>
                  <a:pt x="2154638" y="3038592"/>
                </a:lnTo>
                <a:lnTo>
                  <a:pt x="0" y="303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319173" y="670234"/>
            <a:ext cx="13649653" cy="1322151"/>
          </a:xfrm>
          <a:prstGeom prst="rect">
            <a:avLst/>
          </a:prstGeom>
        </p:spPr>
        <p:txBody>
          <a:bodyPr anchor="t" rtlCol="false" tIns="0" lIns="0" bIns="0" rIns="0">
            <a:spAutoFit/>
          </a:bodyPr>
          <a:lstStyle/>
          <a:p>
            <a:pPr algn="l">
              <a:lnSpc>
                <a:spcPts val="9658"/>
              </a:lnSpc>
            </a:pPr>
            <a:r>
              <a:rPr lang="en-US" sz="8472" b="true">
                <a:solidFill>
                  <a:srgbClr val="1C2120"/>
                </a:solidFill>
                <a:latin typeface="Poppins Bold"/>
                <a:ea typeface="Poppins Bold"/>
                <a:cs typeface="Poppins Bold"/>
                <a:sym typeface="Poppins Bold"/>
              </a:rPr>
              <a:t>TECHNOLOGIES &amp; LIMITES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7206040" y="3062186"/>
            <a:ext cx="8512341" cy="0"/>
          </a:xfrm>
          <a:prstGeom prst="line">
            <a:avLst/>
          </a:prstGeom>
          <a:ln cap="flat" w="104775">
            <a:solidFill>
              <a:srgbClr val="000000"/>
            </a:solidFill>
            <a:prstDash val="solid"/>
            <a:headEnd type="none" len="sm" w="sm"/>
            <a:tailEnd type="none" len="sm" w="sm"/>
          </a:ln>
        </p:spPr>
      </p:sp>
      <p:sp>
        <p:nvSpPr>
          <p:cNvPr name="TextBox 3" id="3"/>
          <p:cNvSpPr txBox="true"/>
          <p:nvPr/>
        </p:nvSpPr>
        <p:spPr>
          <a:xfrm rot="0">
            <a:off x="7206040" y="3807590"/>
            <a:ext cx="8964102" cy="4263800"/>
          </a:xfrm>
          <a:prstGeom prst="rect">
            <a:avLst/>
          </a:prstGeom>
        </p:spPr>
        <p:txBody>
          <a:bodyPr anchor="t" rtlCol="false" tIns="0" lIns="0" bIns="0" rIns="0">
            <a:spAutoFit/>
          </a:bodyPr>
          <a:lstStyle/>
          <a:p>
            <a:pPr algn="l" marL="0" indent="0" lvl="0">
              <a:lnSpc>
                <a:spcPts val="4248"/>
              </a:lnSpc>
            </a:pPr>
            <a:r>
              <a:rPr lang="en-US" sz="3267" spc="196">
                <a:solidFill>
                  <a:srgbClr val="000000"/>
                </a:solidFill>
                <a:latin typeface="Aileron"/>
                <a:ea typeface="Aileron"/>
                <a:cs typeface="Aileron"/>
                <a:sym typeface="Aileron"/>
              </a:rPr>
              <a:t>B</a:t>
            </a:r>
            <a:r>
              <a:rPr lang="en-US" sz="3267" spc="196">
                <a:solidFill>
                  <a:srgbClr val="000000"/>
                </a:solidFill>
                <a:latin typeface="Aileron"/>
                <a:ea typeface="Aileron"/>
                <a:cs typeface="Aileron"/>
                <a:sym typeface="Aileron"/>
              </a:rPr>
              <a:t>ibliotheca est une application web dynamique q</a:t>
            </a:r>
            <a:r>
              <a:rPr lang="en-US" sz="3267" spc="196">
                <a:solidFill>
                  <a:srgbClr val="000000"/>
                </a:solidFill>
                <a:latin typeface="Aileron"/>
                <a:ea typeface="Aileron"/>
                <a:cs typeface="Aileron"/>
                <a:sym typeface="Aileron"/>
              </a:rPr>
              <a:t>ui permet de gérer des livres et des auteurs. Elle utilise le JavaScript, le LocalStorage pour sauvegarder les données et une API externe pour récupérer des informations. Ce projet montre le fonctionnement d’une application interactive sans rechargement de page.</a:t>
            </a:r>
          </a:p>
        </p:txBody>
      </p:sp>
      <p:sp>
        <p:nvSpPr>
          <p:cNvPr name="Freeform 4" id="4"/>
          <p:cNvSpPr/>
          <p:nvPr/>
        </p:nvSpPr>
        <p:spPr>
          <a:xfrm flipH="false" flipV="false" rot="0">
            <a:off x="518978" y="2250967"/>
            <a:ext cx="6313951" cy="5820422"/>
          </a:xfrm>
          <a:custGeom>
            <a:avLst/>
            <a:gdLst/>
            <a:ahLst/>
            <a:cxnLst/>
            <a:rect r="r" b="b" t="t" l="l"/>
            <a:pathLst>
              <a:path h="5820422" w="6313951">
                <a:moveTo>
                  <a:pt x="0" y="0"/>
                </a:moveTo>
                <a:lnTo>
                  <a:pt x="6313951" y="0"/>
                </a:lnTo>
                <a:lnTo>
                  <a:pt x="6313951" y="5820422"/>
                </a:lnTo>
                <a:lnTo>
                  <a:pt x="0" y="582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206040" y="942975"/>
            <a:ext cx="7767627" cy="1457325"/>
          </a:xfrm>
          <a:prstGeom prst="rect">
            <a:avLst/>
          </a:prstGeom>
        </p:spPr>
        <p:txBody>
          <a:bodyPr anchor="t" rtlCol="false" tIns="0" lIns="0" bIns="0" rIns="0">
            <a:spAutoFit/>
          </a:bodyPr>
          <a:lstStyle/>
          <a:p>
            <a:pPr algn="l" marL="0" indent="0" lvl="0">
              <a:lnSpc>
                <a:spcPts val="10800"/>
              </a:lnSpc>
            </a:pPr>
            <a:r>
              <a:rPr lang="en-US" b="true" sz="9000">
                <a:solidFill>
                  <a:srgbClr val="1C2120"/>
                </a:solidFill>
                <a:latin typeface="Poppins Bold"/>
                <a:ea typeface="Poppins Bold"/>
                <a:cs typeface="Poppins Bold"/>
                <a:sym typeface="Poppins Bold"/>
              </a:rPr>
              <a:t>CONCLUSION</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82017" y="4063522"/>
            <a:ext cx="11923966" cy="1563044"/>
          </a:xfrm>
          <a:prstGeom prst="rect">
            <a:avLst/>
          </a:prstGeom>
        </p:spPr>
        <p:txBody>
          <a:bodyPr anchor="t" rtlCol="false" tIns="0" lIns="0" bIns="0" rIns="0">
            <a:spAutoFit/>
          </a:bodyPr>
          <a:lstStyle/>
          <a:p>
            <a:pPr algn="ctr">
              <a:lnSpc>
                <a:spcPts val="10460"/>
              </a:lnSpc>
            </a:pPr>
            <a:r>
              <a:rPr lang="en-US" b="true" sz="12023">
                <a:solidFill>
                  <a:srgbClr val="1C2120"/>
                </a:solidFill>
                <a:latin typeface="Poppins Bold"/>
                <a:ea typeface="Poppins Bold"/>
                <a:cs typeface="Poppins Bold"/>
                <a:sym typeface="Poppins Bold"/>
              </a:rPr>
              <a:t>Thank you </a:t>
            </a:r>
          </a:p>
        </p:txBody>
      </p:sp>
      <p:grpSp>
        <p:nvGrpSpPr>
          <p:cNvPr name="Group 3" id="3"/>
          <p:cNvGrpSpPr/>
          <p:nvPr/>
        </p:nvGrpSpPr>
        <p:grpSpPr>
          <a:xfrm rot="0">
            <a:off x="5652409" y="6483944"/>
            <a:ext cx="6983181" cy="669188"/>
            <a:chOff x="0" y="0"/>
            <a:chExt cx="1839192" cy="176247"/>
          </a:xfrm>
        </p:grpSpPr>
        <p:sp>
          <p:nvSpPr>
            <p:cNvPr name="Freeform 4" id="4"/>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5" id="5"/>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DAG-O0bkiLg</dc:identifier>
  <dcterms:modified xsi:type="dcterms:W3CDTF">2011-08-01T06:04:30Z</dcterms:modified>
  <cp:revision>1</cp:revision>
  <dc:title>Blue Minimalist Project Presentation</dc:title>
</cp:coreProperties>
</file>